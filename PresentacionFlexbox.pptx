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538" r:id="rId2"/>
    <p:sldId id="535" r:id="rId3"/>
    <p:sldId id="541" r:id="rId4"/>
    <p:sldId id="537" r:id="rId5"/>
    <p:sldId id="543" r:id="rId6"/>
    <p:sldId id="544" r:id="rId7"/>
    <p:sldId id="542" r:id="rId8"/>
    <p:sldId id="545" r:id="rId9"/>
    <p:sldId id="546" r:id="rId10"/>
    <p:sldId id="536" r:id="rId11"/>
    <p:sldId id="531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C"/>
    <a:srgbClr val="343433"/>
    <a:srgbClr val="FF6C00"/>
    <a:srgbClr val="38AA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28"/>
    <p:restoredTop sz="97242"/>
  </p:normalViewPr>
  <p:slideViewPr>
    <p:cSldViewPr snapToGrid="0">
      <p:cViewPr>
        <p:scale>
          <a:sx n="66" d="100"/>
          <a:sy n="66" d="100"/>
        </p:scale>
        <p:origin x="1314" y="252"/>
      </p:cViewPr>
      <p:guideLst>
        <p:guide orient="horz" pos="595"/>
        <p:guide pos="3840"/>
        <p:guide orient="horz" pos="1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=""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=""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=""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=""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=""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=""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=""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=""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=""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=""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27/08/2025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963672" y="2551837"/>
            <a:ext cx="64536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54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Work Sans Bold Roman" pitchFamily="2" charset="77"/>
              </a:rPr>
              <a:t>Mejora Trabajo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Con</a:t>
            </a:r>
            <a:r>
              <a:rPr kumimoji="0" lang="es-ES" sz="5400" b="1" i="0" u="none" strike="noStrike" kern="1200" cap="none" spc="0" normalizeH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 Flexbox</a:t>
            </a:r>
            <a:endParaRPr kumimoji="0" lang="es-ES" sz="5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D212A190-8CFC-4264-64B1-C00E90097FC7}"/>
              </a:ext>
            </a:extLst>
          </p:cNvPr>
          <p:cNvSpPr txBox="1"/>
          <p:nvPr/>
        </p:nvSpPr>
        <p:spPr>
          <a:xfrm>
            <a:off x="8208819" y="5668725"/>
            <a:ext cx="32579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EILEEN JULIETH MENDOZA LANDINEZ</a:t>
            </a:r>
            <a:endParaRPr lang="es-ES_tradnl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972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=""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2515860" y="2616428"/>
            <a:ext cx="71602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000" b="1" u="none" strike="noStrike" kern="1200" cap="none" spc="0" normalizeH="0" baseline="0" noProof="0" dirty="0" smtClean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Cambios</a:t>
            </a:r>
            <a:r>
              <a:rPr kumimoji="0" lang="es-ES" sz="4000" b="1" u="none" strike="noStrike" kern="1200" cap="none" spc="0" normalizeH="0" noProof="0" dirty="0" smtClean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 al utilizar Flexbox</a:t>
            </a:r>
            <a:endParaRPr kumimoji="0" lang="es-CO" sz="40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="" xmlns:a16="http://schemas.microsoft.com/office/drawing/2014/main" id="{AE0C963B-97B4-4F66-1B49-0B47BC7F0F1A}"/>
              </a:ext>
            </a:extLst>
          </p:cNvPr>
          <p:cNvCxnSpPr>
            <a:cxnSpLocks/>
          </p:cNvCxnSpPr>
          <p:nvPr/>
        </p:nvCxnSpPr>
        <p:spPr>
          <a:xfrm>
            <a:off x="4972228" y="3324314"/>
            <a:ext cx="2247544" cy="0"/>
          </a:xfrm>
          <a:prstGeom prst="line">
            <a:avLst/>
          </a:prstGeom>
          <a:ln w="12700">
            <a:solidFill>
              <a:srgbClr val="38A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9388A4DF-720D-E501-986E-D50B788D2F61}"/>
              </a:ext>
            </a:extLst>
          </p:cNvPr>
          <p:cNvSpPr txBox="1"/>
          <p:nvPr/>
        </p:nvSpPr>
        <p:spPr>
          <a:xfrm>
            <a:off x="3213552" y="3394020"/>
            <a:ext cx="57648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dirty="0" smtClean="0">
                <a:solidFill>
                  <a:prstClr val="black"/>
                </a:solidFill>
                <a:latin typeface="Work Sans Light Roman" pitchFamily="2" charset="77"/>
              </a:rPr>
              <a:t>Por medio de esta presentación se busca dar a conocer </a:t>
            </a:r>
            <a:r>
              <a:rPr lang="es-ES" sz="1600" dirty="0" smtClean="0">
                <a:solidFill>
                  <a:prstClr val="black"/>
                </a:solidFill>
                <a:latin typeface="Work Sans Light Roman" pitchFamily="2" charset="77"/>
              </a:rPr>
              <a:t>los cambios implementados en el proyecto al utilizar Flexbox</a:t>
            </a:r>
            <a:endParaRPr kumimoji="0" lang="es-CO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Work Sans Light Roman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1142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="" xmlns:a16="http://schemas.microsoft.com/office/drawing/2014/main" id="{D1149976-59ED-86DE-CAFB-F26E38C394F4}"/>
              </a:ext>
            </a:extLst>
          </p:cNvPr>
          <p:cNvSpPr/>
          <p:nvPr/>
        </p:nvSpPr>
        <p:spPr>
          <a:xfrm>
            <a:off x="3423628" y="3954050"/>
            <a:ext cx="53447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 sz="4000"/>
            </a:pPr>
            <a:r>
              <a:rPr lang="es-ES" sz="1600" dirty="0"/>
              <a:t>El objetivo de </a:t>
            </a:r>
            <a:r>
              <a:rPr lang="es-ES" sz="1600" dirty="0" smtClean="0"/>
              <a:t>utilizar flexbox </a:t>
            </a:r>
            <a:r>
              <a:rPr lang="es-ES" sz="1600" dirty="0"/>
              <a:t>es modernizar la base del proyecto para tener un diseño más limpio, flexible, </a:t>
            </a:r>
            <a:r>
              <a:rPr lang="es-ES" sz="1600" dirty="0" err="1"/>
              <a:t>mantenible</a:t>
            </a:r>
            <a:r>
              <a:rPr lang="es-ES" sz="1600" dirty="0"/>
              <a:t> y preparado para pantallas responsivas, en lugar de depender de técnicas que ya quedaron desactualizadas y son más propensas a errores.</a:t>
            </a:r>
            <a:endParaRPr lang="es-ES_tradnl" sz="1600" dirty="0">
              <a:solidFill>
                <a:schemeClr val="bg1"/>
              </a:solidFill>
              <a:latin typeface="WORK SANS REGULAR ROMAN" pitchFamily="2" charset="77"/>
              <a:ea typeface="+mj-ea"/>
              <a:cs typeface="+mj-cs"/>
              <a:sym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35BFFB67-C3D4-337D-C327-AB25D270EADA}"/>
              </a:ext>
            </a:extLst>
          </p:cNvPr>
          <p:cNvSpPr txBox="1"/>
          <p:nvPr/>
        </p:nvSpPr>
        <p:spPr>
          <a:xfrm>
            <a:off x="4453563" y="2623935"/>
            <a:ext cx="32848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6000" b="1" dirty="0" smtClean="0">
                <a:solidFill>
                  <a:schemeClr val="bg1"/>
                </a:solidFill>
                <a:latin typeface="WORK SANS BOLD ROMAN" pitchFamily="2" charset="77"/>
              </a:rPr>
              <a:t>Objetivo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="" xmlns:a16="http://schemas.microsoft.com/office/drawing/2014/main" id="{38CE8666-1D2A-4D01-34E5-54FD74A39FC0}"/>
              </a:ext>
            </a:extLst>
          </p:cNvPr>
          <p:cNvCxnSpPr>
            <a:cxnSpLocks/>
          </p:cNvCxnSpPr>
          <p:nvPr/>
        </p:nvCxnSpPr>
        <p:spPr>
          <a:xfrm>
            <a:off x="5013630" y="3555133"/>
            <a:ext cx="224754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184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B951D1C-ACAB-30A9-933A-FC96DF28A2F0}"/>
              </a:ext>
            </a:extLst>
          </p:cNvPr>
          <p:cNvSpPr txBox="1">
            <a:spLocks/>
          </p:cNvSpPr>
          <p:nvPr/>
        </p:nvSpPr>
        <p:spPr>
          <a:xfrm>
            <a:off x="1074876" y="2027497"/>
            <a:ext cx="3018153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b="1" dirty="0" smtClean="0">
                <a:solidFill>
                  <a:srgbClr val="38AA00"/>
                </a:solidFill>
                <a:latin typeface="WORK SANS BOLD ROMAN" pitchFamily="2" charset="77"/>
              </a:rPr>
              <a:t>Propiedades Flexbox utilizadas</a:t>
            </a:r>
            <a:endParaRPr lang="es-CO" sz="2000" b="1" dirty="0">
              <a:solidFill>
                <a:srgbClr val="38AA00"/>
              </a:solidFill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="" xmlns:a16="http://schemas.microsoft.com/office/drawing/2014/main" id="{CF6697F3-B1A3-FADB-1243-D89866428CB1}"/>
              </a:ext>
            </a:extLst>
          </p:cNvPr>
          <p:cNvSpPr txBox="1"/>
          <p:nvPr/>
        </p:nvSpPr>
        <p:spPr>
          <a:xfrm>
            <a:off x="412832" y="3046987"/>
            <a:ext cx="549448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Work Sans Light Roman" pitchFamily="2" charset="77"/>
              </a:rPr>
              <a:t>Propiedades del contenedor Flex (</a:t>
            </a:r>
            <a:r>
              <a:rPr lang="es-CO" sz="1600" dirty="0" err="1">
                <a:latin typeface="Work Sans Light Roman" pitchFamily="2" charset="77"/>
              </a:rPr>
              <a:t>display</a:t>
            </a:r>
            <a:r>
              <a:rPr lang="es-CO" sz="1600" dirty="0">
                <a:latin typeface="Work Sans Light Roman" pitchFamily="2" charset="77"/>
              </a:rPr>
              <a:t>: </a:t>
            </a:r>
            <a:r>
              <a:rPr lang="es-CO" sz="1600" dirty="0" err="1">
                <a:latin typeface="Work Sans Light Roman" pitchFamily="2" charset="77"/>
              </a:rPr>
              <a:t>flex</a:t>
            </a:r>
            <a:r>
              <a:rPr lang="es-CO" sz="1600" dirty="0">
                <a:latin typeface="Work Sans Light Roman" pitchFamily="2" charset="77"/>
              </a:rPr>
              <a:t>; o </a:t>
            </a:r>
            <a:r>
              <a:rPr lang="es-CO" sz="1600" dirty="0" err="1">
                <a:latin typeface="Work Sans Light Roman" pitchFamily="2" charset="77"/>
              </a:rPr>
              <a:t>inline-flex</a:t>
            </a:r>
            <a:r>
              <a:rPr lang="es-CO" sz="1600" dirty="0" smtClean="0">
                <a:latin typeface="Work Sans Light Roman" pitchFamily="2" charset="77"/>
              </a:rPr>
              <a:t>;)</a:t>
            </a:r>
          </a:p>
          <a:p>
            <a:r>
              <a:rPr lang="es-CO" sz="1600" dirty="0">
                <a:latin typeface="Work Sans Light Roman" pitchFamily="2" charset="77"/>
              </a:rPr>
              <a:t>-</a:t>
            </a:r>
            <a:r>
              <a:rPr lang="es-CO" sz="1600" dirty="0" err="1" smtClean="0">
                <a:latin typeface="Work Sans Light Roman" pitchFamily="2" charset="77"/>
              </a:rPr>
              <a:t>flex-direction</a:t>
            </a:r>
            <a:r>
              <a:rPr lang="es-CO" sz="1600" dirty="0" smtClean="0">
                <a:latin typeface="Work Sans Light Roman" pitchFamily="2" charset="77"/>
              </a:rPr>
              <a:t> </a:t>
            </a:r>
          </a:p>
          <a:p>
            <a:r>
              <a:rPr lang="es-CO" sz="1600" dirty="0" smtClean="0">
                <a:latin typeface="Work Sans Light Roman" pitchFamily="2" charset="77"/>
              </a:rPr>
              <a:t>-</a:t>
            </a:r>
            <a:r>
              <a:rPr lang="es-CO" sz="1600" dirty="0" err="1" smtClean="0">
                <a:latin typeface="Work Sans Light Roman" pitchFamily="2" charset="77"/>
              </a:rPr>
              <a:t>flex-wrap</a:t>
            </a:r>
            <a:endParaRPr lang="es-CO" sz="1600" dirty="0" smtClean="0">
              <a:latin typeface="Work Sans Light Roman" pitchFamily="2" charset="77"/>
            </a:endParaRPr>
          </a:p>
          <a:p>
            <a:r>
              <a:rPr lang="es-CO" sz="1600" dirty="0" smtClean="0">
                <a:latin typeface="Work Sans Light Roman" pitchFamily="2" charset="77"/>
              </a:rPr>
              <a:t>-</a:t>
            </a:r>
            <a:r>
              <a:rPr lang="es-CO" sz="1600" dirty="0" err="1" smtClean="0">
                <a:latin typeface="Work Sans Light Roman" pitchFamily="2" charset="77"/>
              </a:rPr>
              <a:t>justify-content</a:t>
            </a:r>
            <a:endParaRPr lang="es-CO" sz="1600" dirty="0" smtClean="0">
              <a:latin typeface="Work Sans Light Roman" pitchFamily="2" charset="77"/>
            </a:endParaRPr>
          </a:p>
          <a:p>
            <a:r>
              <a:rPr lang="es-CO" sz="1600" dirty="0">
                <a:latin typeface="Work Sans Light Roman" pitchFamily="2" charset="77"/>
              </a:rPr>
              <a:t>-</a:t>
            </a:r>
            <a:r>
              <a:rPr lang="es-CO" sz="1600" dirty="0" err="1" smtClean="0">
                <a:latin typeface="Work Sans Light Roman" pitchFamily="2" charset="77"/>
              </a:rPr>
              <a:t>align-items</a:t>
            </a:r>
            <a:r>
              <a:rPr lang="es-CO" sz="1600" dirty="0" smtClean="0">
                <a:latin typeface="Work Sans Light Roman" pitchFamily="2" charset="77"/>
              </a:rPr>
              <a:t> </a:t>
            </a:r>
          </a:p>
          <a:p>
            <a:r>
              <a:rPr lang="es-CO" sz="1600" dirty="0" smtClean="0">
                <a:latin typeface="Work Sans Light Roman" pitchFamily="2" charset="77"/>
              </a:rPr>
              <a:t>-gap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="" xmlns:a16="http://schemas.microsoft.com/office/drawing/2014/main" id="{669DD18A-AB54-34AC-A662-0BDC60B050FF}"/>
              </a:ext>
            </a:extLst>
          </p:cNvPr>
          <p:cNvCxnSpPr>
            <a:cxnSpLocks/>
          </p:cNvCxnSpPr>
          <p:nvPr/>
        </p:nvCxnSpPr>
        <p:spPr>
          <a:xfrm>
            <a:off x="1157468" y="2704095"/>
            <a:ext cx="1425934" cy="0"/>
          </a:xfrm>
          <a:prstGeom prst="line">
            <a:avLst/>
          </a:prstGeom>
          <a:ln w="12700">
            <a:solidFill>
              <a:srgbClr val="4D4D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800" y="290877"/>
            <a:ext cx="4978400" cy="3473239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800" y="3764116"/>
            <a:ext cx="4978400" cy="304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00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B951D1C-ACAB-30A9-933A-FC96DF28A2F0}"/>
              </a:ext>
            </a:extLst>
          </p:cNvPr>
          <p:cNvSpPr txBox="1">
            <a:spLocks/>
          </p:cNvSpPr>
          <p:nvPr/>
        </p:nvSpPr>
        <p:spPr>
          <a:xfrm>
            <a:off x="682990" y="1330633"/>
            <a:ext cx="3018153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b="1" dirty="0" smtClean="0">
                <a:solidFill>
                  <a:srgbClr val="38AA00"/>
                </a:solidFill>
                <a:latin typeface="WORK SANS BOLD ROMAN" pitchFamily="2" charset="77"/>
              </a:rPr>
              <a:t>Propiedades Flexbox utilizadas</a:t>
            </a:r>
            <a:endParaRPr lang="es-CO" sz="2000" b="1" dirty="0">
              <a:solidFill>
                <a:srgbClr val="38AA00"/>
              </a:solidFill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="" xmlns:a16="http://schemas.microsoft.com/office/drawing/2014/main" id="{CF6697F3-B1A3-FADB-1243-D89866428CB1}"/>
              </a:ext>
            </a:extLst>
          </p:cNvPr>
          <p:cNvSpPr txBox="1"/>
          <p:nvPr/>
        </p:nvSpPr>
        <p:spPr>
          <a:xfrm>
            <a:off x="693969" y="2430675"/>
            <a:ext cx="41828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Work Sans Light Roman" pitchFamily="2" charset="77"/>
              </a:rPr>
              <a:t>Propiedades del contenedor Flex (</a:t>
            </a:r>
            <a:r>
              <a:rPr lang="es-CO" sz="1600" dirty="0" err="1">
                <a:latin typeface="Work Sans Light Roman" pitchFamily="2" charset="77"/>
              </a:rPr>
              <a:t>display</a:t>
            </a:r>
            <a:r>
              <a:rPr lang="es-CO" sz="1600" dirty="0">
                <a:latin typeface="Work Sans Light Roman" pitchFamily="2" charset="77"/>
              </a:rPr>
              <a:t>: </a:t>
            </a:r>
            <a:r>
              <a:rPr lang="es-CO" sz="1600" dirty="0" err="1">
                <a:latin typeface="Work Sans Light Roman" pitchFamily="2" charset="77"/>
              </a:rPr>
              <a:t>flex</a:t>
            </a:r>
            <a:r>
              <a:rPr lang="es-CO" sz="1600" dirty="0">
                <a:latin typeface="Work Sans Light Roman" pitchFamily="2" charset="77"/>
              </a:rPr>
              <a:t>; o </a:t>
            </a:r>
            <a:r>
              <a:rPr lang="es-CO" sz="1600" dirty="0" err="1">
                <a:latin typeface="Work Sans Light Roman" pitchFamily="2" charset="77"/>
              </a:rPr>
              <a:t>inline-flex</a:t>
            </a:r>
            <a:r>
              <a:rPr lang="es-CO" sz="1600" dirty="0" smtClean="0">
                <a:latin typeface="Work Sans Light Roman" pitchFamily="2" charset="77"/>
              </a:rPr>
              <a:t>;)</a:t>
            </a:r>
          </a:p>
          <a:p>
            <a:r>
              <a:rPr lang="es-CO" sz="1600" dirty="0">
                <a:latin typeface="Work Sans Light Roman" pitchFamily="2" charset="77"/>
              </a:rPr>
              <a:t>-</a:t>
            </a:r>
            <a:r>
              <a:rPr lang="es-CO" sz="1600" dirty="0" err="1" smtClean="0">
                <a:latin typeface="Work Sans Light Roman" pitchFamily="2" charset="77"/>
              </a:rPr>
              <a:t>flex-direction</a:t>
            </a:r>
            <a:r>
              <a:rPr lang="es-CO" sz="1600" dirty="0" smtClean="0">
                <a:latin typeface="Work Sans Light Roman" pitchFamily="2" charset="77"/>
              </a:rPr>
              <a:t> </a:t>
            </a:r>
            <a:r>
              <a:rPr lang="es-CO" sz="1600" dirty="0">
                <a:latin typeface="Work Sans Light Roman" pitchFamily="2" charset="77"/>
              </a:rPr>
              <a:t>→ Define la dirección del eje </a:t>
            </a:r>
            <a:r>
              <a:rPr lang="es-CO" sz="1600" dirty="0" smtClean="0">
                <a:latin typeface="Work Sans Light Roman" pitchFamily="2" charset="77"/>
              </a:rPr>
              <a:t>principal</a:t>
            </a:r>
          </a:p>
          <a:p>
            <a:endParaRPr lang="es-CO" sz="1600" dirty="0" smtClean="0">
              <a:latin typeface="Work Sans Light Roman" pitchFamily="2" charset="77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="" xmlns:a16="http://schemas.microsoft.com/office/drawing/2014/main" id="{669DD18A-AB54-34AC-A662-0BDC60B050FF}"/>
              </a:ext>
            </a:extLst>
          </p:cNvPr>
          <p:cNvCxnSpPr>
            <a:cxnSpLocks/>
          </p:cNvCxnSpPr>
          <p:nvPr/>
        </p:nvCxnSpPr>
        <p:spPr>
          <a:xfrm>
            <a:off x="766132" y="2133534"/>
            <a:ext cx="1425934" cy="0"/>
          </a:xfrm>
          <a:prstGeom prst="line">
            <a:avLst/>
          </a:prstGeom>
          <a:ln w="12700">
            <a:solidFill>
              <a:srgbClr val="4D4D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267" y="290877"/>
            <a:ext cx="6437076" cy="347323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4"/>
          <a:srcRect l="3928" t="10466" r="55690" b="6002"/>
          <a:stretch/>
        </p:blipFill>
        <p:spPr>
          <a:xfrm>
            <a:off x="7537948" y="3149600"/>
            <a:ext cx="2891900" cy="336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119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B951D1C-ACAB-30A9-933A-FC96DF28A2F0}"/>
              </a:ext>
            </a:extLst>
          </p:cNvPr>
          <p:cNvSpPr txBox="1">
            <a:spLocks/>
          </p:cNvSpPr>
          <p:nvPr/>
        </p:nvSpPr>
        <p:spPr>
          <a:xfrm>
            <a:off x="624933" y="851840"/>
            <a:ext cx="3018153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b="1" dirty="0" smtClean="0">
                <a:solidFill>
                  <a:srgbClr val="38AA00"/>
                </a:solidFill>
                <a:latin typeface="WORK SANS BOLD ROMAN" pitchFamily="2" charset="77"/>
              </a:rPr>
              <a:t>Propiedades Flexbox utilizadas</a:t>
            </a:r>
            <a:endParaRPr lang="es-CO" sz="2000" b="1" dirty="0">
              <a:solidFill>
                <a:srgbClr val="38AA00"/>
              </a:solidFill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="" xmlns:a16="http://schemas.microsoft.com/office/drawing/2014/main" id="{CF6697F3-B1A3-FADB-1243-D89866428CB1}"/>
              </a:ext>
            </a:extLst>
          </p:cNvPr>
          <p:cNvSpPr txBox="1"/>
          <p:nvPr/>
        </p:nvSpPr>
        <p:spPr>
          <a:xfrm>
            <a:off x="477433" y="2228546"/>
            <a:ext cx="34704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Work Sans Light Roman" pitchFamily="2" charset="77"/>
              </a:rPr>
              <a:t>Propiedades del contenedor Flex (</a:t>
            </a:r>
            <a:r>
              <a:rPr lang="es-CO" sz="1600" dirty="0" err="1">
                <a:latin typeface="Work Sans Light Roman" pitchFamily="2" charset="77"/>
              </a:rPr>
              <a:t>display</a:t>
            </a:r>
            <a:r>
              <a:rPr lang="es-CO" sz="1600" dirty="0">
                <a:latin typeface="Work Sans Light Roman" pitchFamily="2" charset="77"/>
              </a:rPr>
              <a:t>: </a:t>
            </a:r>
            <a:r>
              <a:rPr lang="es-CO" sz="1600" dirty="0" err="1">
                <a:latin typeface="Work Sans Light Roman" pitchFamily="2" charset="77"/>
              </a:rPr>
              <a:t>flex</a:t>
            </a:r>
            <a:r>
              <a:rPr lang="es-CO" sz="1600" dirty="0">
                <a:latin typeface="Work Sans Light Roman" pitchFamily="2" charset="77"/>
              </a:rPr>
              <a:t>; o </a:t>
            </a:r>
            <a:r>
              <a:rPr lang="es-CO" sz="1600" dirty="0" err="1">
                <a:latin typeface="Work Sans Light Roman" pitchFamily="2" charset="77"/>
              </a:rPr>
              <a:t>inline-flex</a:t>
            </a:r>
            <a:r>
              <a:rPr lang="es-CO" sz="1600" dirty="0" smtClean="0">
                <a:latin typeface="Work Sans Light Roman" pitchFamily="2" charset="77"/>
              </a:rPr>
              <a:t>;)</a:t>
            </a:r>
          </a:p>
          <a:p>
            <a:r>
              <a:rPr lang="es-CO" sz="1600" dirty="0" smtClean="0">
                <a:latin typeface="Work Sans Light Roman" pitchFamily="2" charset="77"/>
              </a:rPr>
              <a:t>-</a:t>
            </a:r>
            <a:r>
              <a:rPr lang="es-CO" sz="1600" dirty="0" err="1" smtClean="0">
                <a:latin typeface="Work Sans Light Roman" pitchFamily="2" charset="77"/>
              </a:rPr>
              <a:t>flex-wrap</a:t>
            </a:r>
            <a:r>
              <a:rPr lang="es-CO" sz="1600" dirty="0" smtClean="0">
                <a:latin typeface="Work Sans Light Roman" pitchFamily="2" charset="77"/>
              </a:rPr>
              <a:t> </a:t>
            </a:r>
            <a:r>
              <a:rPr lang="es-CO" sz="1600" dirty="0">
                <a:latin typeface="Work Sans Light Roman" pitchFamily="2" charset="77"/>
              </a:rPr>
              <a:t>→ Controla si los elementos se ajustan a varias </a:t>
            </a:r>
            <a:r>
              <a:rPr lang="es-CO" sz="1600" dirty="0" smtClean="0">
                <a:latin typeface="Work Sans Light Roman" pitchFamily="2" charset="77"/>
              </a:rPr>
              <a:t>líneas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="" xmlns:a16="http://schemas.microsoft.com/office/drawing/2014/main" id="{669DD18A-AB54-34AC-A662-0BDC60B050FF}"/>
              </a:ext>
            </a:extLst>
          </p:cNvPr>
          <p:cNvCxnSpPr>
            <a:cxnSpLocks/>
          </p:cNvCxnSpPr>
          <p:nvPr/>
        </p:nvCxnSpPr>
        <p:spPr>
          <a:xfrm>
            <a:off x="708075" y="1784644"/>
            <a:ext cx="1425934" cy="0"/>
          </a:xfrm>
          <a:prstGeom prst="line">
            <a:avLst/>
          </a:prstGeom>
          <a:ln w="12700">
            <a:solidFill>
              <a:srgbClr val="4D4D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1543" y="1784644"/>
            <a:ext cx="3794621" cy="304223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4"/>
          <a:srcRect l="5602" t="11062" r="55801" b="6796"/>
          <a:stretch/>
        </p:blipFill>
        <p:spPr>
          <a:xfrm>
            <a:off x="4927374" y="1362783"/>
            <a:ext cx="3247685" cy="388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846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B951D1C-ACAB-30A9-933A-FC96DF28A2F0}"/>
              </a:ext>
            </a:extLst>
          </p:cNvPr>
          <p:cNvSpPr txBox="1">
            <a:spLocks/>
          </p:cNvSpPr>
          <p:nvPr/>
        </p:nvSpPr>
        <p:spPr>
          <a:xfrm>
            <a:off x="624934" y="1152150"/>
            <a:ext cx="3018153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b="1" dirty="0">
                <a:solidFill>
                  <a:srgbClr val="38AA00"/>
                </a:solidFill>
                <a:latin typeface="WORK SANS BOLD ROMAN" pitchFamily="2" charset="77"/>
              </a:rPr>
              <a:t>El impacto visual y estructural generado.</a:t>
            </a:r>
            <a:endParaRPr lang="es-CO" sz="2000" b="1" dirty="0">
              <a:solidFill>
                <a:srgbClr val="38AA00"/>
              </a:solidFill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="" xmlns:a16="http://schemas.microsoft.com/office/drawing/2014/main" id="{CF6697F3-B1A3-FADB-1243-D89866428CB1}"/>
              </a:ext>
            </a:extLst>
          </p:cNvPr>
          <p:cNvSpPr txBox="1"/>
          <p:nvPr/>
        </p:nvSpPr>
        <p:spPr>
          <a:xfrm>
            <a:off x="624934" y="2437387"/>
            <a:ext cx="43534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Work Sans Light Roman" pitchFamily="2" charset="77"/>
              </a:rPr>
              <a:t>Propiedades del contenedor Flex (</a:t>
            </a:r>
            <a:r>
              <a:rPr lang="es-CO" sz="1600" dirty="0" err="1">
                <a:latin typeface="Work Sans Light Roman" pitchFamily="2" charset="77"/>
              </a:rPr>
              <a:t>display</a:t>
            </a:r>
            <a:r>
              <a:rPr lang="es-CO" sz="1600" dirty="0">
                <a:latin typeface="Work Sans Light Roman" pitchFamily="2" charset="77"/>
              </a:rPr>
              <a:t>: </a:t>
            </a:r>
            <a:r>
              <a:rPr lang="es-CO" sz="1600" dirty="0" err="1">
                <a:latin typeface="Work Sans Light Roman" pitchFamily="2" charset="77"/>
              </a:rPr>
              <a:t>flex</a:t>
            </a:r>
            <a:r>
              <a:rPr lang="es-CO" sz="1600" dirty="0">
                <a:latin typeface="Work Sans Light Roman" pitchFamily="2" charset="77"/>
              </a:rPr>
              <a:t>; o </a:t>
            </a:r>
            <a:r>
              <a:rPr lang="es-CO" sz="1600" dirty="0" err="1">
                <a:latin typeface="Work Sans Light Roman" pitchFamily="2" charset="77"/>
              </a:rPr>
              <a:t>inline-flex</a:t>
            </a:r>
            <a:r>
              <a:rPr lang="es-CO" sz="1600" dirty="0" smtClean="0">
                <a:latin typeface="Work Sans Light Roman" pitchFamily="2" charset="77"/>
              </a:rPr>
              <a:t>;)</a:t>
            </a:r>
          </a:p>
          <a:p>
            <a:endParaRPr lang="es-CO" sz="1600" dirty="0" smtClean="0">
              <a:latin typeface="Work Sans Light Roman" pitchFamily="2" charset="77"/>
            </a:endParaRPr>
          </a:p>
          <a:p>
            <a:r>
              <a:rPr lang="es-CO" sz="1600" dirty="0" smtClean="0">
                <a:latin typeface="Work Sans Light Roman" pitchFamily="2" charset="77"/>
              </a:rPr>
              <a:t>-</a:t>
            </a:r>
            <a:r>
              <a:rPr lang="es-CO" sz="1600" dirty="0" err="1" smtClean="0">
                <a:latin typeface="Work Sans Light Roman" pitchFamily="2" charset="77"/>
              </a:rPr>
              <a:t>justify-content</a:t>
            </a:r>
            <a:r>
              <a:rPr lang="es-CO" sz="1600" dirty="0" smtClean="0">
                <a:latin typeface="Work Sans Light Roman" pitchFamily="2" charset="77"/>
              </a:rPr>
              <a:t> </a:t>
            </a:r>
            <a:r>
              <a:rPr lang="es-CO" sz="1600" dirty="0">
                <a:latin typeface="Work Sans Light Roman" pitchFamily="2" charset="77"/>
              </a:rPr>
              <a:t>→ Alinea los elementos en el eje </a:t>
            </a:r>
            <a:r>
              <a:rPr lang="es-CO" sz="1600" dirty="0" smtClean="0">
                <a:latin typeface="Work Sans Light Roman" pitchFamily="2" charset="77"/>
              </a:rPr>
              <a:t>principal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="" xmlns:a16="http://schemas.microsoft.com/office/drawing/2014/main" id="{669DD18A-AB54-34AC-A662-0BDC60B050FF}"/>
              </a:ext>
            </a:extLst>
          </p:cNvPr>
          <p:cNvCxnSpPr>
            <a:cxnSpLocks/>
          </p:cNvCxnSpPr>
          <p:nvPr/>
        </p:nvCxnSpPr>
        <p:spPr>
          <a:xfrm>
            <a:off x="708076" y="1972891"/>
            <a:ext cx="1425934" cy="0"/>
          </a:xfrm>
          <a:prstGeom prst="line">
            <a:avLst/>
          </a:prstGeom>
          <a:ln w="12700">
            <a:solidFill>
              <a:srgbClr val="4D4D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4280" y="2326723"/>
            <a:ext cx="5195296" cy="262349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4"/>
          <a:srcRect l="247" t="11062" b="63144"/>
          <a:stretch/>
        </p:blipFill>
        <p:spPr>
          <a:xfrm>
            <a:off x="5384798" y="999690"/>
            <a:ext cx="6694261" cy="97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836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B951D1C-ACAB-30A9-933A-FC96DF28A2F0}"/>
              </a:ext>
            </a:extLst>
          </p:cNvPr>
          <p:cNvSpPr txBox="1">
            <a:spLocks/>
          </p:cNvSpPr>
          <p:nvPr/>
        </p:nvSpPr>
        <p:spPr>
          <a:xfrm>
            <a:off x="566876" y="866354"/>
            <a:ext cx="3018153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b="1" dirty="0" smtClean="0">
                <a:solidFill>
                  <a:srgbClr val="38AA00"/>
                </a:solidFill>
                <a:latin typeface="WORK SANS BOLD ROMAN" pitchFamily="2" charset="77"/>
              </a:rPr>
              <a:t>Propiedades Flexbox utilizadas</a:t>
            </a:r>
            <a:endParaRPr lang="es-CO" sz="2000" b="1" dirty="0">
              <a:solidFill>
                <a:srgbClr val="38AA00"/>
              </a:solidFill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="" xmlns:a16="http://schemas.microsoft.com/office/drawing/2014/main" id="{CF6697F3-B1A3-FADB-1243-D89866428CB1}"/>
              </a:ext>
            </a:extLst>
          </p:cNvPr>
          <p:cNvSpPr txBox="1"/>
          <p:nvPr/>
        </p:nvSpPr>
        <p:spPr>
          <a:xfrm>
            <a:off x="376112" y="2072382"/>
            <a:ext cx="47038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Work Sans Light Roman" pitchFamily="2" charset="77"/>
              </a:rPr>
              <a:t>Propiedades del contenedor Flex (</a:t>
            </a:r>
            <a:r>
              <a:rPr lang="es-CO" sz="1600" dirty="0" err="1">
                <a:latin typeface="Work Sans Light Roman" pitchFamily="2" charset="77"/>
              </a:rPr>
              <a:t>display</a:t>
            </a:r>
            <a:r>
              <a:rPr lang="es-CO" sz="1600" dirty="0">
                <a:latin typeface="Work Sans Light Roman" pitchFamily="2" charset="77"/>
              </a:rPr>
              <a:t>: </a:t>
            </a:r>
            <a:r>
              <a:rPr lang="es-CO" sz="1600" dirty="0" err="1">
                <a:latin typeface="Work Sans Light Roman" pitchFamily="2" charset="77"/>
              </a:rPr>
              <a:t>flex</a:t>
            </a:r>
            <a:r>
              <a:rPr lang="es-CO" sz="1600" dirty="0">
                <a:latin typeface="Work Sans Light Roman" pitchFamily="2" charset="77"/>
              </a:rPr>
              <a:t>; o </a:t>
            </a:r>
            <a:r>
              <a:rPr lang="es-CO" sz="1600" dirty="0" err="1">
                <a:latin typeface="Work Sans Light Roman" pitchFamily="2" charset="77"/>
              </a:rPr>
              <a:t>inline-flex</a:t>
            </a:r>
            <a:r>
              <a:rPr lang="es-CO" sz="1600" dirty="0" smtClean="0">
                <a:latin typeface="Work Sans Light Roman" pitchFamily="2" charset="77"/>
              </a:rPr>
              <a:t>;)</a:t>
            </a:r>
          </a:p>
          <a:p>
            <a:r>
              <a:rPr lang="es-CO" sz="1600" dirty="0" smtClean="0">
                <a:latin typeface="Work Sans Light Roman" pitchFamily="2" charset="77"/>
              </a:rPr>
              <a:t>-</a:t>
            </a:r>
            <a:r>
              <a:rPr lang="es-CO" sz="1600" dirty="0" err="1" smtClean="0">
                <a:latin typeface="Work Sans Light Roman" pitchFamily="2" charset="77"/>
              </a:rPr>
              <a:t>align-items</a:t>
            </a:r>
            <a:r>
              <a:rPr lang="es-CO" sz="1600" dirty="0" smtClean="0">
                <a:latin typeface="Work Sans Light Roman" pitchFamily="2" charset="77"/>
              </a:rPr>
              <a:t> </a:t>
            </a:r>
            <a:r>
              <a:rPr lang="es-CO" sz="1600" dirty="0">
                <a:latin typeface="Work Sans Light Roman" pitchFamily="2" charset="77"/>
              </a:rPr>
              <a:t>→ Alinea los elementos en el eje cruzado (perpendicular</a:t>
            </a:r>
            <a:r>
              <a:rPr lang="es-CO" sz="1600" dirty="0" smtClean="0">
                <a:latin typeface="Work Sans Light Roman" pitchFamily="2" charset="77"/>
              </a:rPr>
              <a:t>)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="" xmlns:a16="http://schemas.microsoft.com/office/drawing/2014/main" id="{669DD18A-AB54-34AC-A662-0BDC60B050FF}"/>
              </a:ext>
            </a:extLst>
          </p:cNvPr>
          <p:cNvCxnSpPr>
            <a:cxnSpLocks/>
          </p:cNvCxnSpPr>
          <p:nvPr/>
        </p:nvCxnSpPr>
        <p:spPr>
          <a:xfrm>
            <a:off x="650018" y="1731637"/>
            <a:ext cx="1425934" cy="0"/>
          </a:xfrm>
          <a:prstGeom prst="line">
            <a:avLst/>
          </a:prstGeom>
          <a:ln w="12700">
            <a:solidFill>
              <a:srgbClr val="4D4D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422" y="290877"/>
            <a:ext cx="6437076" cy="347323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4"/>
          <a:srcRect l="3928" t="10466" r="55690" b="6002"/>
          <a:stretch/>
        </p:blipFill>
        <p:spPr>
          <a:xfrm>
            <a:off x="7537948" y="3149600"/>
            <a:ext cx="2891900" cy="336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369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B951D1C-ACAB-30A9-933A-FC96DF28A2F0}"/>
              </a:ext>
            </a:extLst>
          </p:cNvPr>
          <p:cNvSpPr txBox="1">
            <a:spLocks/>
          </p:cNvSpPr>
          <p:nvPr/>
        </p:nvSpPr>
        <p:spPr>
          <a:xfrm>
            <a:off x="639448" y="1525516"/>
            <a:ext cx="3018153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b="1" dirty="0" smtClean="0">
                <a:solidFill>
                  <a:srgbClr val="38AA00"/>
                </a:solidFill>
                <a:latin typeface="WORK SANS BOLD ROMAN" pitchFamily="2" charset="77"/>
              </a:rPr>
              <a:t>Propiedades Flexbox utilizadas</a:t>
            </a:r>
            <a:endParaRPr lang="es-CO" sz="2000" b="1" dirty="0">
              <a:solidFill>
                <a:srgbClr val="38AA00"/>
              </a:solidFill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="" xmlns:a16="http://schemas.microsoft.com/office/drawing/2014/main" id="{CF6697F3-B1A3-FADB-1243-D89866428CB1}"/>
              </a:ext>
            </a:extLst>
          </p:cNvPr>
          <p:cNvSpPr txBox="1"/>
          <p:nvPr/>
        </p:nvSpPr>
        <p:spPr>
          <a:xfrm>
            <a:off x="639448" y="2508378"/>
            <a:ext cx="42954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Work Sans Light Roman" pitchFamily="2" charset="77"/>
              </a:rPr>
              <a:t>Propiedades del contenedor Flex (</a:t>
            </a:r>
            <a:r>
              <a:rPr lang="es-CO" sz="1600" dirty="0" err="1">
                <a:latin typeface="Work Sans Light Roman" pitchFamily="2" charset="77"/>
              </a:rPr>
              <a:t>display</a:t>
            </a:r>
            <a:r>
              <a:rPr lang="es-CO" sz="1600" dirty="0">
                <a:latin typeface="Work Sans Light Roman" pitchFamily="2" charset="77"/>
              </a:rPr>
              <a:t>: </a:t>
            </a:r>
            <a:r>
              <a:rPr lang="es-CO" sz="1600" dirty="0" err="1">
                <a:latin typeface="Work Sans Light Roman" pitchFamily="2" charset="77"/>
              </a:rPr>
              <a:t>flex</a:t>
            </a:r>
            <a:r>
              <a:rPr lang="es-CO" sz="1600" dirty="0">
                <a:latin typeface="Work Sans Light Roman" pitchFamily="2" charset="77"/>
              </a:rPr>
              <a:t>; o </a:t>
            </a:r>
            <a:r>
              <a:rPr lang="es-CO" sz="1600" dirty="0" err="1">
                <a:latin typeface="Work Sans Light Roman" pitchFamily="2" charset="77"/>
              </a:rPr>
              <a:t>inline-flex</a:t>
            </a:r>
            <a:r>
              <a:rPr lang="es-CO" sz="1600" dirty="0" smtClean="0">
                <a:latin typeface="Work Sans Light Roman" pitchFamily="2" charset="77"/>
              </a:rPr>
              <a:t>;)</a:t>
            </a:r>
          </a:p>
          <a:p>
            <a:r>
              <a:rPr lang="es-CO" sz="1600" dirty="0" smtClean="0">
                <a:latin typeface="Work Sans Light Roman" pitchFamily="2" charset="77"/>
              </a:rPr>
              <a:t>-</a:t>
            </a:r>
            <a:r>
              <a:rPr lang="es-CO" sz="1600" dirty="0">
                <a:latin typeface="Work Sans Light Roman" pitchFamily="2" charset="77"/>
              </a:rPr>
              <a:t>gap → Controlan el espacio entre </a:t>
            </a:r>
            <a:r>
              <a:rPr lang="es-CO" sz="1600" dirty="0" err="1">
                <a:latin typeface="Work Sans Light Roman" pitchFamily="2" charset="77"/>
              </a:rPr>
              <a:t>items</a:t>
            </a:r>
            <a:r>
              <a:rPr lang="es-CO" sz="1600" dirty="0">
                <a:latin typeface="Work Sans Light Roman" pitchFamily="2" charset="77"/>
              </a:rPr>
              <a:t> sin usar márgenes</a:t>
            </a:r>
            <a:r>
              <a:rPr lang="es-CO" sz="1600" dirty="0" smtClean="0">
                <a:latin typeface="Work Sans Light Roman" pitchFamily="2" charset="77"/>
              </a:rPr>
              <a:t>.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="" xmlns:a16="http://schemas.microsoft.com/office/drawing/2014/main" id="{669DD18A-AB54-34AC-A662-0BDC60B050FF}"/>
              </a:ext>
            </a:extLst>
          </p:cNvPr>
          <p:cNvCxnSpPr>
            <a:cxnSpLocks/>
          </p:cNvCxnSpPr>
          <p:nvPr/>
        </p:nvCxnSpPr>
        <p:spPr>
          <a:xfrm>
            <a:off x="722590" y="2202114"/>
            <a:ext cx="1425934" cy="0"/>
          </a:xfrm>
          <a:prstGeom prst="line">
            <a:avLst/>
          </a:prstGeom>
          <a:ln w="12700">
            <a:solidFill>
              <a:srgbClr val="4D4D4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593" y="3250010"/>
            <a:ext cx="3880758" cy="311129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4"/>
          <a:srcRect l="12853" t="30705" r="12519" b="15724"/>
          <a:stretch/>
        </p:blipFill>
        <p:spPr>
          <a:xfrm>
            <a:off x="5269946" y="284386"/>
            <a:ext cx="6845112" cy="276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543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9815809" cy="741563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s-ES" sz="3600" b="1" dirty="0">
                <a:solidFill>
                  <a:srgbClr val="4D4D4C"/>
                </a:solidFill>
                <a:latin typeface="WORK SANS BOLD ROMAN" pitchFamily="2" charset="77"/>
              </a:rPr>
              <a:t>Dificultades encontradas y cómo fueron resueltas.</a:t>
            </a:r>
            <a:endParaRPr kumimoji="0" lang="es-CO" sz="36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=""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456236" y="1616220"/>
            <a:ext cx="551843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latin typeface="Work Sans Light Roman" pitchFamily="2" charset="77"/>
              </a:rPr>
              <a:t>Al migrar el proyecto a flexbox surgieron algunas dificultades, principalmente relacionadas con el espaciado entre elementos, ya que antes se controlaba con márgenes manuales y al cambiar a </a:t>
            </a:r>
            <a:r>
              <a:rPr lang="es-ES" sz="1600" dirty="0" err="1">
                <a:latin typeface="Work Sans Light Roman" pitchFamily="2" charset="77"/>
              </a:rPr>
              <a:t>flex</a:t>
            </a:r>
            <a:r>
              <a:rPr lang="es-ES" sz="1600" dirty="0">
                <a:latin typeface="Work Sans Light Roman" pitchFamily="2" charset="77"/>
              </a:rPr>
              <a:t> fue necesario ajustar propiedades como gap, </a:t>
            </a:r>
            <a:r>
              <a:rPr lang="es-ES" sz="1600" dirty="0" err="1">
                <a:latin typeface="Work Sans Light Roman" pitchFamily="2" charset="77"/>
              </a:rPr>
              <a:t>justify-content</a:t>
            </a:r>
            <a:r>
              <a:rPr lang="es-ES" sz="1600" dirty="0">
                <a:latin typeface="Work Sans Light Roman" pitchFamily="2" charset="77"/>
              </a:rPr>
              <a:t> y </a:t>
            </a:r>
            <a:r>
              <a:rPr lang="es-ES" sz="1600" dirty="0" err="1">
                <a:latin typeface="Work Sans Light Roman" pitchFamily="2" charset="77"/>
              </a:rPr>
              <a:t>align-items</a:t>
            </a:r>
            <a:r>
              <a:rPr lang="es-ES" sz="1600" dirty="0">
                <a:latin typeface="Work Sans Light Roman" pitchFamily="2" charset="77"/>
              </a:rPr>
              <a:t> para lograr una distribución uniforme. </a:t>
            </a:r>
            <a:endParaRPr lang="es-ES" sz="1600" dirty="0" smtClean="0">
              <a:latin typeface="Work Sans Light Roman" pitchFamily="2" charset="77"/>
            </a:endParaRPr>
          </a:p>
          <a:p>
            <a:endParaRPr lang="es-ES" sz="1600" dirty="0">
              <a:latin typeface="Work Sans Light Roman" pitchFamily="2" charset="77"/>
            </a:endParaRPr>
          </a:p>
          <a:p>
            <a:r>
              <a:rPr lang="es-ES" sz="1600" dirty="0" smtClean="0">
                <a:latin typeface="Work Sans Light Roman" pitchFamily="2" charset="77"/>
              </a:rPr>
              <a:t>También </a:t>
            </a:r>
            <a:r>
              <a:rPr lang="es-ES" sz="1600" dirty="0">
                <a:latin typeface="Work Sans Light Roman" pitchFamily="2" charset="77"/>
              </a:rPr>
              <a:t>hubo problemas con la adaptación del menú de hamburguesa, porque al reorganizar los elementos con flexbox se alteraba su alineación y el comportamiento en dispositivos móviles, lo que requirió ajustes en la dirección del eje (</a:t>
            </a:r>
            <a:r>
              <a:rPr lang="es-ES" sz="1600" dirty="0" err="1">
                <a:latin typeface="Work Sans Light Roman" pitchFamily="2" charset="77"/>
              </a:rPr>
              <a:t>flex-direction</a:t>
            </a:r>
            <a:r>
              <a:rPr lang="es-ES" sz="1600" dirty="0">
                <a:latin typeface="Work Sans Light Roman" pitchFamily="2" charset="77"/>
              </a:rPr>
              <a:t>: </a:t>
            </a:r>
            <a:r>
              <a:rPr lang="es-ES" sz="1600" dirty="0" err="1">
                <a:latin typeface="Work Sans Light Roman" pitchFamily="2" charset="77"/>
              </a:rPr>
              <a:t>column</a:t>
            </a:r>
            <a:r>
              <a:rPr lang="es-ES" sz="1600" dirty="0">
                <a:latin typeface="Work Sans Light Roman" pitchFamily="2" charset="77"/>
              </a:rPr>
              <a:t>) y el uso de media queries para que el menú se mostrara correctamente en distintas resoluciones.</a:t>
            </a:r>
            <a:endParaRPr lang="es-CO" sz="1600" dirty="0">
              <a:latin typeface="Work Sans Light Rom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4068</TotalTime>
  <Words>350</Words>
  <Application>Microsoft Office PowerPoint</Application>
  <PresentationFormat>Panorámica</PresentationFormat>
  <Paragraphs>34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Work Sans Bold Roman</vt:lpstr>
      <vt:lpstr>Work Sans Bold Roman</vt:lpstr>
      <vt:lpstr>Work Sans Light Roman</vt:lpstr>
      <vt:lpstr>WORK SANS REGULAR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USER</cp:lastModifiedBy>
  <cp:revision>70</cp:revision>
  <dcterms:created xsi:type="dcterms:W3CDTF">2020-10-01T23:51:28Z</dcterms:created>
  <dcterms:modified xsi:type="dcterms:W3CDTF">2025-08-27T21:57:23Z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